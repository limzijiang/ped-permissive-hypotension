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這堂課只有一個核心：把「少給水」和「讓他低血壓」分開。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這個案例的關鍵是 BP 96 看似正常，但 CRT 4 秒與 HR 160 已經是代償性休克。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如果今天只帶走一句話，就是這句。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學員最常把「少給水」聽成「讓他低血壓」，所以第一件事就是把兩者拆開。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這是整個概念的來源，也是被誤植到兒童的起點。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條裡只有 2 條是 clinical recommendation，其餘都是專家意見。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失血 30–40% 之前血壓可以完全正常，這是小孩與大人最大的差別。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所以血壓是紅線（跌破就是很糟），不是目標（滴定到剛好）。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學員只要記住一件事：打完必須重評。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灌水不是「多做一點總沒錯」——它有劑量、有毒性、有上限。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這條線剛好等於臺北市 SOP 的上限，不必額外背。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腦傷的孩子，低血壓不是「還撐得住」，是正在製造第二次傷害。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這一頁請學員抄下來。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這是兒童這塊唯一在跑的大型試驗，被問到一定要能回答。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這一頁是全場最容易被誤讀的觀念。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五個面向逐條念過去，學員就會自己得到結論。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讓學員知道現行 protocol 本來就對，不是要他們改規則。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讓全班一起唸兩次，再進到四步流程。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四步順序不可調換：止血永遠在輸液之前。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現場真正會被翻出來看的就是這一頁。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每一條先問學員「這句話哪裡怪怪的？」再給正確版本。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題可請學員現場算 40 mL/kg 是多少，強化換算。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教學材料也要能被查核。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把網址念一次，請學員課後自己點文獻。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結束前再問一次開場的案例：現在你會怎麼做？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737360"/>
            <a:ext cx="5852160" cy="58521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840480"/>
            <a:ext cx="3108960" cy="3108960"/>
          </a:xfrm>
          <a:prstGeom prst="ellipse">
            <a:avLst/>
          </a:prstGeom>
          <a:solidFill>
            <a:srgbClr val="7A000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PHPLS · 小兒到院前急救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小兒創傷該不該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「刻意壓低血壓」？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Permissive Hypotension 的實證與 EMT 教學建議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4526280"/>
            <a:ext cx="67665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892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RCT × 兒童共識 × 英國 PRESSURE 試驗（進行中）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5669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EMT／EMT-P 繼續教育　·　2026-08-17　·　林自強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先想一個場景：你會怎麼做？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1417320"/>
          </a:xfrm>
          <a:prstGeom prst="roundRect">
            <a:avLst>
              <a:gd name="adj" fmla="val 5806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00784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歲男童，機車後座乘客，被撞飛約 5 公尺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10543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意識躁動、臉色蒼白、四肢冰冷。HR 160、RR 34、BP 96/70、CRT 4 秒，腹部脹且壓痛，無明顯外出血。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37413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選項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666744"/>
            <a:ext cx="49743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血壓還有 96，看起來還好 —— 先不打點滴，快點送。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315468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337413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選項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65392" y="3666744"/>
            <a:ext cx="49743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休克了 —— 兩條大針，生理食鹽水全開，一路灌到血壓上來。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2120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兩個都錯。今天要回答的，是中間那條路長什麼樣子。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先讓學員舉手選 A 或 B，再進結論頁——多數人會選 B。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120640" cy="5120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0" y="22402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不做低血壓，但要做限制性輸液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目標不是壓低血壓，而是「小量、多次、看反應」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371600" y="4206240"/>
            <a:ext cx="5852160" cy="78638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06240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省的是水，不是血壓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0" y="420624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這兩件事在成人教材裡常被寫成同一段——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那是兒童教學最大的陷阱。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兩個名詞，不要混在一起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7393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PERMISSIVE HYPOTENSION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6654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容許性低血壓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9743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管的是「血壓」：止血前刻意把 SBP 維持在 50–70 或 80–90 mmHg，不去把它拉到正常。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理由：血壓拉高會沖掉剛形成的血栓、加速失血。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EDEFF7"/>
          </a:solidFill>
          <a:ln w="12700">
            <a:solidFill>
              <a:srgbClr val="CFD5E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177393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RESTRICTIVE FLUID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65392" y="206654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限制性輸液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65392" y="2487168"/>
            <a:ext cx="49743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管的是「輸液量」：不給不必要的晶體液，每次少量後重新評估，需要時儘早改給血品。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理由：大量生理食鹽水本身有害。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617720"/>
            <a:ext cx="11055096" cy="1051560"/>
          </a:xfrm>
          <a:prstGeom prst="roundRect">
            <a:avLst>
              <a:gd name="adj" fmla="val 7826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617720"/>
            <a:ext cx="10506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傷口剛結了一層薄痂。前者是「別用高壓水槍去沖它」，後者是「別在旁邊一直加水稀釋膠水」。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一個管水壓、一個管水量——小孩的水壓不能亂降，水量卻要省著用。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後面每一頁都會回頭指這一張定義。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成人：permissive hypotension 是有證據的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篇 RCT 統合分析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299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299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272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受試者總數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906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906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0.70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879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死亡（0.53–0.92）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0513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513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486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介入組目標 SBP（mmHg）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28269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試驗內容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3703320"/>
            <a:ext cx="49743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介入組目標 SBP 50–70 或 MAP ≥50；對照組 SBP 65–100。輸血量與失血量都較少。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但各試驗 power 不足、異質性高。（Tran 2018）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328269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指引怎麼改的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65392" y="3703320"/>
            <a:ext cx="49743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ATLS 9th：初始晶體液 2 L → 1 L，更早給血漿與血小板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歐洲創傷指引：止血前 SBP 80–90 mmHg（1C），明文排除腦傷者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52578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成人的兩個前提：有明確出血源、而且很快進手術室——小孩兩個都不一定成立。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 A, et al. J Trauma Acute Care Surg. 2018;84(5):802-808.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兒童：沒有 RCT，只有共識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條聲明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299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299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272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recommendation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906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906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879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consensus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0513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513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486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practice statement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28269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全文沒有設定的東西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3703320"/>
            <a:ext cx="49743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 permissive hypotension 的血壓目標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兒童專屬的低血壓復甦流程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ATLS／PALS／PECARN／EAST 也都沒有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328269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它實際涵蓋的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65392" y="3703320"/>
            <a:ext cx="49743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血品與輸液復甦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院前血品使用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止血輔助劑、止血帶、院前呼吸道與血壓處置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52578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作者自己寫：兒童的出血控制與復甦「幾乎沒有高品質證據可循」。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RT, et al. J Trauma Acute Care Surg. 2023;94(1S):S2-S10.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兒童的血壓是「最後才掉」的生命徵象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854160" cy="749808"/>
          </a:xfrm>
          <a:prstGeom prst="rect">
            <a:avLst/>
          </a:prstGeom>
          <a:solidFill>
            <a:srgbClr val="1E7A4B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600200"/>
            <a:ext cx="6744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代償期：血壓正常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（心跳快、血管收縮、CRT 變長）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21088" y="1600200"/>
            <a:ext cx="2432121" cy="749808"/>
          </a:xfrm>
          <a:prstGeom prst="rect">
            <a:avLst/>
          </a:prstGeom>
          <a:solidFill>
            <a:srgbClr val="C89211"/>
          </a:solidFill>
          <a:ln/>
        </p:spPr>
      </p:sp>
      <p:sp>
        <p:nvSpPr>
          <p:cNvPr id="7" name="Text 5"/>
          <p:cNvSpPr/>
          <p:nvPr/>
        </p:nvSpPr>
        <p:spPr>
          <a:xfrm>
            <a:off x="7475952" y="1600200"/>
            <a:ext cx="232239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失代償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血壓開始掉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853209" y="1600200"/>
            <a:ext cx="1768815" cy="74980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9908073" y="1600200"/>
            <a:ext cx="165908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瀕臨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停止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失血 0%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98128" y="2423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 30%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30249" y="2423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 40%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976104" y="2423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45%+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14553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臨床意義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49743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量到低血壓時，代償儲備已幾乎用完。那不是「還可以觀察的中間狀態」，而是接近心跳停止的訊號。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92608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65392" y="314553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所以現場要看什麼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3566160"/>
            <a:ext cx="49743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意識反應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橈動脈摸不摸得到、脈搏強不強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CRT &gt; 2 秒、皮膚濕冷蒼白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029200"/>
            <a:ext cx="11055096" cy="868680"/>
          </a:xfrm>
          <a:prstGeom prst="roundRect">
            <a:avLst>
              <a:gd name="adj" fmla="val 9474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5029200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小孩的血壓像手機的電量顯示：一路顯示 100%、100%、100%……然後直接跳到關機。你不能等它顯示 5% 才找充電器。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大人的電量條是慢慢降的，所以大人可以「開到 20% 再說」。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那個「血壓門檻」本身就不可靠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11296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74736" y="1481328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1055096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93852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常背的公式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11296" y="193852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 歲 SBP &lt; 70 + 2×年齡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74736" y="1938528"/>
            <a:ext cx="3374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未針對預後驗證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990088"/>
            <a:ext cx="11055096" cy="1051560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99008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Sarganas 2019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德國 KiGGS 族群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11296" y="299008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3–9 歲第 5 百分位其實約 82 + 年齡；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10–17 歲非線性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74736" y="2990088"/>
            <a:ext cx="3374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比常用公式高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公式會低估休克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041648"/>
            <a:ext cx="11055096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404164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Hagedoorn 2019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系統性回顧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11296" y="404164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PALS 定義 &lt;12 歲尚可；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&gt;12 歲會低估低血壓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74736" y="4041648"/>
            <a:ext cx="3374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不同來源可差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mmHg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440680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5440680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三台體重計，站上去差 3 公斤。你不會拿它決定要不要開刀——你會看這個人有沒有變瘦。血壓只能當警報，不能當方向盤。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兩篇分析的共同結論：沒有任何一條公式對預後有良好驗證。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輸液怎麼給：小量、分次、重評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7393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AHA／AAP PALS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66544"/>
            <a:ext cx="49743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等張晶體液以 10 mL/kg 或 20 mL/kg 分次給予，每次給完就重評「有沒有反應」與「有沒有容積過載」。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重點不在選 10 還是 20，在於打完要重評。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EDEFF7"/>
          </a:solidFill>
          <a:ln w="12700">
            <a:solidFill>
              <a:srgbClr val="CFD5E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77393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 兒童生命支持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65392" y="2066544"/>
            <a:ext cx="49743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單次上限壓到 10 mL/kg（取代舊的 20），理由是減少容積過載與稀釋性凝血病。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出血性／創傷性休克：晶體液要限制，儘早給血品。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886200"/>
            <a:ext cx="255803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" y="3886200"/>
            <a:ext cx="23385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評估休克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43250" y="422452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99282" y="3886200"/>
            <a:ext cx="255803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09010" y="3886200"/>
            <a:ext cx="23385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mL/kg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快速給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75604" y="422452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1636" y="3886200"/>
            <a:ext cx="255803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41364" y="3886200"/>
            <a:ext cx="23385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立刻重評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意識／脈搏／CRT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07958" y="422452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63990" y="3886200"/>
            <a:ext cx="255803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73718" y="3886200"/>
            <a:ext cx="23385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有改善→停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沒改善→再一次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3035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輸液不是「掛上去就走」，是一次一次給、一次一次看。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 把單次上限降到 10 mL/kg，是這幾年最重要的方向改變。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灌太多，是真的會死人的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小時 20–40 mL/kg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死亡 adjusted 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299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299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272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小時 ≥40 mL/kg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死亡 adjusted 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906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906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&gt;60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879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mL/kg／24–48 小時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存活出院率下降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0513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513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486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研究顯示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ICU／住院天數延長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28269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怎麼死的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3703320"/>
            <a:ext cx="49743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稀釋性凝血病 —— 凝血因子被沖淡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低體溫 —— 冷輸液讓凝血酶失效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組織與肺水腫 —— 插管率上升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328269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資料的限制（要誠實說）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65392" y="3703320"/>
            <a:ext cx="49743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全部是觀察性研究。「傷得重的孩子本來就會被灌比較多水」這個混淆無法完全排除，雖然已校正創傷嚴重度（ISS）。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Mbadiwe N, et al. J Surg Res. 2021;262:93-100（單中心世代，已校正 ISS）。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現場心裡要有的那條線：40 mL/kg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648182" cy="749808"/>
          </a:xfrm>
          <a:prstGeom prst="rect">
            <a:avLst/>
          </a:prstGeom>
          <a:solidFill>
            <a:srgbClr val="1E7A4B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600200"/>
            <a:ext cx="353845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0–20 mL/kg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參考組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15110" y="1600200"/>
            <a:ext cx="3758733" cy="749808"/>
          </a:xfrm>
          <a:prstGeom prst="rect">
            <a:avLst/>
          </a:prstGeom>
          <a:solidFill>
            <a:srgbClr val="C89211"/>
          </a:solidFill>
          <a:ln/>
        </p:spPr>
      </p:sp>
      <p:sp>
        <p:nvSpPr>
          <p:cNvPr id="7" name="Text 5"/>
          <p:cNvSpPr/>
          <p:nvPr/>
        </p:nvSpPr>
        <p:spPr>
          <a:xfrm>
            <a:off x="4269974" y="1600200"/>
            <a:ext cx="364900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20–40 mL/kg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死亡 aOR 2.96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73842" y="1600200"/>
            <a:ext cx="3648182" cy="74980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8028706" y="1600200"/>
            <a:ext cx="353845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≥40 mL/kg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死亡 aOR 6.26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92150" y="2423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mL/kg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50882" y="2423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mL/kg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976104" y="2423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14553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換算成現場的動作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49743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mL/kg ≒ 10 mL/kg 打 4 次，或 20 mL/kg 打 2 次（＝台北市 SOP 的上限）。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kg 的孩子 ≒ 800 mL。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92608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65392" y="314553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越線之後該做的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3566160"/>
            <a:ext cx="49743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通報，指定創傷中心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加壓止血、骨盆固定帶再確認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保溫；快送——不要在現場繼續加碼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29200"/>
            <a:ext cx="11055096" cy="868680"/>
          </a:xfrm>
          <a:prstGeom prst="roundRect">
            <a:avLst>
              <a:gd name="adj" fmla="val 9474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5029200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牆壁裡的水管破了，你在客廳一直拖地。拖得再勤，牆裡還在漏。到了 40 mL/kg，該叫的是水電工（開刀房），不是再拿一條抹布。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腹腔與骨盆的出血，在現場沒有任何辦法止。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CONTRAINDICATION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頭部外傷：低血壓 = 二次腦傷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早期照護中曾低血壓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（60/234）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299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299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272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院內死亡（曾低血壓）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8.6%，p=0.01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906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906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0.46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879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分鐘內矯正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死亡（0.24–0.90）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05138" y="1554480"/>
            <a:ext cx="251688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5138" y="1682496"/>
            <a:ext cx="25168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0.54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4866" y="2249424"/>
            <a:ext cx="229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分鐘內矯正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不良 GOS（0.39–0.76）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6324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28269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3703320"/>
            <a:ext cx="49743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低血壓＝ SBP &lt; 70 + 2×年齡（BTF 定義）。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「及時處置」＝紀錄到該事件後 30 分鐘內，以輸液、血品或升壓劑矯正。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328269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另一個佐證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65392" y="3703320"/>
            <a:ext cx="49743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Luerssen 系列（成人 6,908／兒童 1,906）：低血壓對死亡的不良影響，在兒童比成人更大。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Kannan N, et al. Pediatr Emerg Care. 2018;34(5):325-329（PEGASUS，5 家兒童創傷中心，n=234）。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哪些情況「一分鐘都不能低」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7393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絕對不容許低血壓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9743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頭部外傷（懷疑就算）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脊髓損傷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合併重度 TBI（GCS ≤8）時目標是 MAP ≥80 mmHg，而不是 permissive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773936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現場怎麼判斷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65392" y="2194560"/>
            <a:ext cx="49743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意識改變、瞳孔不等大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頭皮血腫、耳鼻出血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受傷機轉：高處墜落、車禍拋飛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不確定的時候，當成有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950208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EDEFF7"/>
          </a:solidFill>
          <a:ln w="12700">
            <a:solidFill>
              <a:srgbClr val="CFD5E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169664"/>
            <a:ext cx="105430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BTF 指引特別提醒：小兒 TBI 即使血壓「正常」，只要有灌流不良徵象（CRT 長、脈搏弱、意識差），仍然可以給輸液——這是唯一會叫你「積極一點」的情境。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5138928"/>
            <a:ext cx="11055096" cy="777240"/>
          </a:xfrm>
          <a:prstGeom prst="roundRect">
            <a:avLst>
              <a:gd name="adj" fmla="val 10588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5138928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受傷的腦子像已經跳電一半的房子：電壓再掉一點點，剩下還亮著的燈也會跟著熄。省電在這裡不叫節約，叫加速停電。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全場唯一的硬規則，其餘都是判斷。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TRIAL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英國 PRESSURE：兒童血壓目標的第一個大型 RCT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項目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45536" y="1481328"/>
            <a:ext cx="8403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內容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11055096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93852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註冊／資助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45536" y="1938528"/>
            <a:ext cx="8403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ISRCTN 20609635；NIHR HTA（128895），ICNARC 主持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11055096" cy="694944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63347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45536" y="2633472"/>
            <a:ext cx="8403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英國 18 家 PICU，目標 1,900 人；2021 年 11 月第一位個案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11055096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328416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介入組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45536" y="3328416"/>
            <a:ext cx="8403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維持 MAP &gt; 該年齡第 5 百分位（permissive target band）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11055096" cy="694944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4023360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對照組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45536" y="4023360"/>
            <a:ext cx="8403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目標由臨床團隊自行決定（usual care）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718304"/>
            <a:ext cx="11055096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471830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主要結果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45536" y="4718304"/>
            <a:ext cx="8403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天內「死亡 ＋ 侵入性呼吸器天數」的複合排序結果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504688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724144"/>
            <a:ext cx="1054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納入：矯正妊娠 37 週–&lt;16 歲，入 PICU、使用呼吸器、預期血管活性藥 ≥6 小時。　排除：急性腦損傷、心臟術後、心肌病變、肺高壓、瀕死。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截至 2026 年 8 月尚未有結果發表。（Pediatr Crit Care Med. 2024;25(7):629-637）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TRIAL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它用的 MAP 目標帶：地板值，不是目標值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4176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MAP（mmHg）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49377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9385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週–6 個月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94176" y="193852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40–43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560320"/>
            <a:ext cx="4937760" cy="621792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5603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&gt;6 個月–&lt;1 歲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94176" y="25603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40–45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182112"/>
            <a:ext cx="49377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1821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歲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94176" y="318211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4937760" cy="621792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80390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4–9 歲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94176" y="380390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50–55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425696"/>
            <a:ext cx="49377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442569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 歲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94176" y="442569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55–60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16168" y="1554480"/>
            <a:ext cx="5705856" cy="3493008"/>
          </a:xfrm>
          <a:prstGeom prst="roundRect">
            <a:avLst>
              <a:gd name="adj" fmla="val 2356"/>
            </a:avLst>
          </a:prstGeom>
          <a:solidFill>
            <a:srgbClr val="EDEFF7"/>
          </a:solidFill>
          <a:ln w="12700">
            <a:solidFill>
              <a:srgbClr val="CFD5E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1773936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這裡的 permissive 是什麼意思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72200" y="2194560"/>
            <a:ext cx="519379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它不是「允許血壓掉下去」，而是「不必用升壓藥把 MAP 拱得比第 5 百分位更高」。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 百分位是地板，不是目標。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5303520"/>
            <a:ext cx="11055096" cy="777240"/>
          </a:xfrm>
          <a:prstGeom prst="roundRect">
            <a:avLst>
              <a:gd name="adj" fmla="val 10588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" y="530352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銀行帳戶的最低留存餘額 1,000 元：意思是「不准低於 1,000」，不是「你的目標是存 1,000」。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有人把 permissive 讀成後者——那是完全相反的做法。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把這個字的方向講清楚，後面的誤解就不會發生。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不能拿來改現場流程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79776" y="1481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在做的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60336" y="1481328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到院前小兒創傷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1055096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9385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場域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79776" y="19385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PICU 內，已插管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60336" y="1938528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現場／救護車上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96896"/>
            <a:ext cx="11055096" cy="658368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59689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79776" y="25968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用升壓劑調整 MAP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60336" y="2596896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用輸液處理失血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5096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2552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病人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779776" y="3255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多為敗血症等分佈性休克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60336" y="3255264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出血性休克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913632"/>
            <a:ext cx="11055096" cy="658368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9136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腦傷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79776" y="39136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明文排除急性腦損傷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60336" y="3913632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現場常無法排除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572000"/>
            <a:ext cx="11055096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45720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779776" y="45720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「用藥把血壓拉到多高才夠？」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260336" y="4572000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「輸液可以少給多少？」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53492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問的是「拉到多高才夠」，不是「可以放著多低」。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66928" y="581558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在它公布結果前——即使公布之後——到院前小兒創傷的建議完全不變。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被問「英國不是在做 permissive 嗎」的時候，用這張表回答。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PROTOCOL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回到台灣：限制性輸液已經內建在 SOP 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項目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779776" y="14813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臺北市 EMTP SOP（T5）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17536" y="1481328"/>
            <a:ext cx="3831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新北市 2024 SOP（兒童流程）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1055096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9385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兒童輸液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79776" y="19385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&lt;40 kg：20 mL/kg，得重複一次（上限 40）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17536" y="1938528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休克者考慮 10–20 mL/kg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11055096" cy="640080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5786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休克血壓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79776" y="257860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未特別列（成人 SBP&lt;90）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17536" y="2578608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 歲 &lt;70；1–10 歲 &lt;70+2×歲；&gt;10 歲 &lt;90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218688"/>
            <a:ext cx="11055096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2186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嘗試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779776" y="32186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休克患者現場最多 2 次（或 5 分鐘）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17536" y="3218688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同左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58768"/>
            <a:ext cx="11055096" cy="640080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8587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保溫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79776" y="385876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鋁箔／毛毯、車內暖氣、加溫輸液 39°C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17536" y="3858768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同左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498848"/>
            <a:ext cx="11055096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4498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779776" y="44988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成人指標：SBP&lt;90 或 HR≥120、3 小時內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17536" y="4498848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兒童劑量未載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193792"/>
            <a:ext cx="11055096" cy="841248"/>
          </a:xfrm>
          <a:prstGeom prst="roundRect">
            <a:avLst>
              <a:gd name="adj" fmla="val 9783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41324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不必新增任何規則。現行 SOP 的「20 mL/kg × 2 為限」＝ 40 mL/kg，剛好停在文獻的傷害訊號之前。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教學只要把「為什麼有這個上限」講清楚。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2026-08-17 核對兩市 SOP 全文。兒童 TXA 劑量請依線上醫療指導，勿由成人劑量外推。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5303520" cy="53035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5156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MNEMONIC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1055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先止血、再給水；一次十、打完看；</a:t>
            </a:r>
            <a:endParaRPr lang="en-US" sz="38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摸到脈、就停手；撞到頭、不能低。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3840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400507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4370832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mL/kg。protocol 寫 20 就教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「一次二十」——重點是打完要重評。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3840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5C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400507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摸到脈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35424" y="4370832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終點是灌流不是數字：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意識、橈動脈、皮膚回溫。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28432" y="3840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A5C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400507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撞到頭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6176" y="4370832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唯一的例外條款。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懷疑腦傷就不容許任何低血壓。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現場只有四步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止血優先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44256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直接加壓 → 止血帶 → 骨盆固定帶。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任何輸液都不會止血。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81328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1737360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14032" y="1719072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判斷休克，別只看血壓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4032" y="2194560"/>
            <a:ext cx="44256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意識、橈動脈、CRT&gt;2 秒、皮膚濕冷、心跳快。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血壓只當紅線。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5876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小量、多次、看反應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44256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10（或 20）mL/kg → 立刻重評 → 有改善就停。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心裡那條線：40 mL/kg。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602736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385876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14032" y="3840480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保溫 ＋ 快送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14032" y="4315968"/>
            <a:ext cx="44256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脫濕衣、鋁毯、暖氣、加溫輸液。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腹腔／骨盆出血 → scoop and run。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760720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" y="5760720"/>
            <a:ext cx="10506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　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為什麼灌太多會讓血止不住？把濃湯一直加水，量變多了、味道卻沒了——血液被稀釋後，凝血因子濃度不夠，血栓就結不起來。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 CARD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口袋卡：紅線與劑量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02736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血壓紅線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5486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9385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02736" y="19385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&lt; 70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578608"/>
            <a:ext cx="5486400" cy="640080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5786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 歲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02736" y="25786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&lt; 70 + 2×歲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218688"/>
            <a:ext cx="5486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186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 歲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02736" y="32186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&lt; 90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口算：5 歲 = 80、8 歲 = 86、10 歲 = 90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481328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1481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體重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45168" y="1481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 10–20 mL/kg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1938528"/>
            <a:ext cx="5486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19385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kg（約 1 歲）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45168" y="19385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100–200 mL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2578608"/>
            <a:ext cx="5486400" cy="640080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6510528" y="25786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kg（約 6 歲）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345168" y="25786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200–400 mL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3218688"/>
            <a:ext cx="54864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32186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kg（約 10 歲）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45168" y="32186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300–600 mL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09360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體重未知：Broselow 帶或 (年齡+4)×2　｜　現場總量上限 40 mL/kg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434840"/>
            <a:ext cx="11055096" cy="1143000"/>
          </a:xfrm>
          <a:prstGeom prst="roundRect">
            <a:avLst>
              <a:gd name="adj" fmla="val 7200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4654296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交班一定要講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2960" y="5074920"/>
            <a:ext cx="10543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總共給了幾 mL、幾點給的、給完之後脈搏和意識有沒有變。沒講量，醫院就會從頭再灌一次。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這一頁可以印成 A6 護貝，發給每一位學員。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MISCONCEPTIONS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要主動打掉的四個誤解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常見誤解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40096" y="1481328"/>
            <a:ext cx="6208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正確版本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11055096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938528"/>
            <a:ext cx="4297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「現在流行 permissive hypotension，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小孩也少給水就好」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40096" y="1938528"/>
            <a:ext cx="62087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兒童沒有這個建議。少給水是為了避免過量傷害，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不是追求低血壓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871216"/>
            <a:ext cx="11055096" cy="932688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871216"/>
            <a:ext cx="4297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「血壓還可以，那就沒休克」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0096" y="2871216"/>
            <a:ext cx="62087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兒童代償強，血壓最後才掉。看意識、脈搏強度、CRT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803904"/>
            <a:ext cx="11055096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803904"/>
            <a:ext cx="4297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「休克就先掛兩袋跑」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0096" y="3803904"/>
            <a:ext cx="62087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 bolus 後都要重評；&gt;40 mL/kg 與死亡率上升相關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736592"/>
            <a:ext cx="11055096" cy="932688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4736592"/>
            <a:ext cx="4297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「英國已經在試 permissive 了，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所以小孩可以低血壓」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0096" y="4736592"/>
            <a:ext cx="62087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是 PICU 重症、用升壓藥、排除腦傷，且尚無結果；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它的 permissive 是「MAP 不低於第 5 百分位」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學員記不住否定句，只記得住動作——糾正時一定要給替代版本。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情境檢核：每題只問一個決策點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91456" y="14813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該做什麼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089136" y="1481328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考點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1055096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938528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　6 歲、車禍、腹脹壓痛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160、CRT 4 秒、BP 96/70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91456" y="1938528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當休克處理：確認止血 → 10–20 mL/kg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重評 → 快送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89136" y="1938528"/>
            <a:ext cx="2459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血壓正常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沒休克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871216"/>
            <a:ext cx="11055096" cy="932688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871216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　4 歲、墜落、意識混亂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瞳孔不等大、SBP 72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91456" y="2871216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疑似 TBI：積極矯正低血壓、避免缺氧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送創傷中心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89136" y="2871216"/>
            <a:ext cx="2459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腦傷是禁忌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11055096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803904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　8 歲約 30 kg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已給 1,200 mL 仍蒼白脈弱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3803904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已達 40 mL/kg → 停止加碼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通報、保溫、快送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89136" y="3803904"/>
            <a:ext cx="2459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需要的是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血與手術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736592"/>
            <a:ext cx="11055096" cy="932688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736592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　2 歲、下肢大量外出血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180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4736592"/>
            <a:ext cx="4023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先止血帶／加壓止血，再考慮輸液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89136" y="4736592"/>
            <a:ext cx="2459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止血優先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於輸液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不要問「該給多少」，要問「打完這一次，你看什麼決定要不要打第二次」。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本簡報數字的來源與等級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關鍵數字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91456" y="1481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546336" y="1481328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等級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1055096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938528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 permissive OR 0.70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91456" y="193852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 2018 統合分析（6 RCT, n=1,158）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46336" y="1938528"/>
            <a:ext cx="2002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同儕審查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633472"/>
            <a:ext cx="11055096" cy="694944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633472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≥40 mL/kg 死亡 aOR 6.26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91456" y="26334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Mbadiwe 2021（單中心回溯，已校正 ISS）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46336" y="2633472"/>
            <a:ext cx="2002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單一中心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觀察性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328416"/>
            <a:ext cx="11055096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328416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&gt;60 mL/kg 存活下降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3328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轉引自 Russell 2023 共識之文獻回顧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46336" y="3328416"/>
            <a:ext cx="2002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二手引用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023360"/>
            <a:ext cx="11055096" cy="694944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023360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PEGASUS 23.3% vs 8.6%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402336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Kannan 2018, Pediatr Emerg Care（已核對原文）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46336" y="4023360"/>
            <a:ext cx="2002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同儕審查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718304"/>
            <a:ext cx="11055096" cy="694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4718304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設計與 MAP 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91456" y="471830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PCCM 2024 protocol ＋ ISRCTN 20609635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46336" y="4718304"/>
            <a:ext cx="2002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進行中</a:t>
            </a:r>
            <a:endParaRPr lang="en-US" sz="12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尚無結果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504688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6EAEB"/>
          </a:solidFill>
          <a:ln w="12700">
            <a:solidFill>
              <a:srgbClr val="E6C9CC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724144"/>
            <a:ext cx="1054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另：臺北／新北 SOP 條文為本機全文核對（2026-08-17）；「40 mL/kg ≒ 20 kg 童 800 mL」為本簡報換算，僅供教學。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被問到「這個數字哪裡來的」時翻這一頁。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參考文獻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554480"/>
            <a:ext cx="548640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73736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Russell RT, et al. Pediatric Traumatic Hemorrhagic Shock Consensus Conference Recommendations. J Trauma Acute Care Surg. 2023;94(1S):S2-S10.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 A, et al. Permissive hypotension versus conventional resuscitation in adult trauma. J Trauma Acute Care Surg. 2018;84(5):802-808.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Lasa JJ, et al. Part 8: Pediatric Advanced Life Support: 2025 AHA/AAP Guidelines. Pediatrics. 2026;157(1):e2025074351.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Buis ML, Turner NM. New ERC guidelines for pediatric life support. Paediatr Anaesth. 2022;32(4):497-503.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Mbadiwe N, et al. Higher Crystalloid Volume During Initial Pediatric Trauma Resuscitation Is Associated With Mortality. J Surg Res. 2021;262:93-100.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Sarganas G, et al. An unambiguous definition of pediatric hypotension is still lacking. J Trauma Acute Care Surg. 2019;86(3):448-453.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47104" y="173736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Hagedoorn NN, et al. A comparison of clinical paediatric guidelines for hypotension with population-based lower centiles. Crit Care. 2019;23:380.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Lulla A, et al. Prehospital Guidelines for the Management of TBI – 3rd Edition. Prehosp Emerg Care. 2023;27(5):507-538.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Kannan N, et al. Timely Hemodynamic Resuscitation and Outcomes in Severe Pediatric TBI. Pediatr Emerg Care. 2018;34(5):325-329.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Peters MJ, et al. PRESSURE trial protocol. Pediatr Crit Care Med. 2024;25(7):629-637.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PATCH-Trauma Investigators. Prehospital Tranexamic Acid for Severe Trauma. N Engl J Med. 2023;389(2):127-136.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Spinella PC, et al. Use of Antifibrinolytics in Pediatric Life-Threatening Hemorrhage. Crit Care Med. 2022;50(4):e382-e392.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539496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線上簡報　limzijiang.github.io/ped-permissive-hypotension　｜　全文閱讀版　同網址 /read.html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實證檢索：OpenEvidence，2026-08-17；SOP 條文核對自臺北市與新北市 EMTP SOP 全文。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754880" cy="47548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帶走這三句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457200" cy="457200"/>
          </a:xfrm>
          <a:prstGeom prst="ellipse">
            <a:avLst/>
          </a:prstGeom>
          <a:solidFill>
            <a:srgbClr val="C8921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8745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兒童創傷休克三件事：壓住出血、保暖、快送。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457200" cy="457200"/>
          </a:xfrm>
          <a:prstGeom prst="ellipse">
            <a:avLst/>
          </a:prstGeom>
          <a:solidFill>
            <a:srgbClr val="C8921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輸液是小口喝，不是灌水；打完一定重評。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66928" y="3977640"/>
            <a:ext cx="457200" cy="457200"/>
          </a:xfrm>
          <a:prstGeom prst="ellipse">
            <a:avLst/>
          </a:prstGeom>
          <a:solidFill>
            <a:srgbClr val="C8921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9776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撞到頭，血壓一低就要救回來。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" y="57150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B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林自強　·　2026-08-17　·　limzijiang.github.io/ped-permissive-hypotension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2026-08-18T14:29:07Z</dcterms:created>
  <dcterms:modified xsi:type="dcterms:W3CDTF">2026-08-18T14:29:07Z</dcterms:modified>
</cp:coreProperties>
</file>